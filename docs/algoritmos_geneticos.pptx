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256" r:id="rId2"/>
    <p:sldId id="308" r:id="rId3"/>
    <p:sldId id="311" r:id="rId4"/>
    <p:sldId id="307" r:id="rId5"/>
    <p:sldId id="309" r:id="rId6"/>
    <p:sldId id="310" r:id="rId7"/>
    <p:sldId id="314" r:id="rId8"/>
    <p:sldId id="312" r:id="rId9"/>
    <p:sldId id="313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7" r:id="rId22"/>
    <p:sldId id="328" r:id="rId23"/>
    <p:sldId id="329" r:id="rId24"/>
    <p:sldId id="330" r:id="rId25"/>
    <p:sldId id="331" r:id="rId26"/>
    <p:sldId id="333" r:id="rId27"/>
    <p:sldId id="332" r:id="rId28"/>
    <p:sldId id="334" r:id="rId29"/>
    <p:sldId id="335" r:id="rId30"/>
    <p:sldId id="336" r:id="rId31"/>
    <p:sldId id="261" r:id="rId3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 autoAdjust="0"/>
  </p:normalViewPr>
  <p:slideViewPr>
    <p:cSldViewPr snapToGrid="0">
      <p:cViewPr varScale="1">
        <p:scale>
          <a:sx n="72" d="100"/>
          <a:sy n="72" d="100"/>
        </p:scale>
        <p:origin x="126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8D4157-7BD2-4EC5-B1C4-2FF5B502DF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9BE3C0-D791-44BD-AFED-5EAC9815FC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6780B-8879-454B-9911-1B43FF52ED0C}" type="datetimeFigureOut">
              <a:rPr lang="en-US" smtClean="0"/>
              <a:t>5/4/2020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FA2B02-BAA8-4F8F-AED0-3FA3F42FE8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5F0BE-0F8F-41C6-917F-3F159458D6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B5C01-C05B-4D85-8BBF-0D21A9C39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920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0BD72-6842-45E4-B5FE-95E54BB0BB0A}" type="datetimeFigureOut">
              <a:rPr lang="en-US" smtClean="0"/>
              <a:t>5/4/2020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04CAD-3C77-439F-AF6A-E4383CA4AD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5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6752-AD0A-4E65-AF9E-E5F63408C3B0}" type="datetime1">
              <a:rPr lang="es-CO" smtClean="0"/>
              <a:t>4/05/2020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/>
              <a:t>Patrones de diseño de software</a:t>
            </a:r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97584" y="138431"/>
            <a:ext cx="20574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E1E09212-B9F3-42A5-A307-57957C5AAB3B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768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6FDD5-C533-4513-84E6-A6E2F5731066}" type="datetime1">
              <a:rPr lang="es-CO" smtClean="0"/>
              <a:t>4/05/2020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67402" y="47627"/>
            <a:ext cx="20574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E1E09212-B9F3-42A5-A307-57957C5AAB3B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692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C0F80-8387-4060-A362-AFA3EA088430}" type="datetime1">
              <a:rPr lang="es-CO" smtClean="0"/>
              <a:t>4/05/2020</a:t>
            </a:fld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3527" y="99243"/>
            <a:ext cx="20574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E1E09212-B9F3-42A5-A307-57957C5AAB3B}" type="slidenum">
              <a:rPr lang="es-CO" smtClean="0"/>
              <a:pPr/>
              <a:t>‹#›</a:t>
            </a:fld>
            <a:endParaRPr lang="es-CO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AEA71A5-CB37-4835-A02E-08F61C65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00281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FCB6-1A8E-4EFB-8393-EE96F009A550}" type="datetime1">
              <a:rPr lang="es-CO" smtClean="0"/>
              <a:t>4/05/2020</a:t>
            </a:fld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6198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BFD5F-C05E-4F34-B922-5557900415B9}" type="datetime1">
              <a:rPr lang="es-CO" smtClean="0"/>
              <a:t>4/05/2020</a:t>
            </a:fld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977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6FE78-A6CB-44A9-9519-FDAABB2EFB22}" type="datetime1">
              <a:rPr lang="es-CO" smtClean="0"/>
              <a:t>4/05/2020</a:t>
            </a:fld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7727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23E2-24CB-4350-B8CE-56DE0A6C8AAC}" type="datetime1">
              <a:rPr lang="es-CO" smtClean="0"/>
              <a:t>4/05/2020</a:t>
            </a:fld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247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399E0-ECF1-4010-B539-0475CE34DE54}" type="datetime1">
              <a:rPr lang="es-CO" smtClean="0"/>
              <a:t>4/05/2020</a:t>
            </a:fld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688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DB6F2-B174-4C16-A394-2C30D331AD29}" type="datetime1">
              <a:rPr lang="es-CO" smtClean="0"/>
              <a:t>4/05/2020</a:t>
            </a:fld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3043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EB7DE-07F2-4A71-9C63-8113A35D2CA2}" type="datetime1">
              <a:rPr lang="es-CO" smtClean="0"/>
              <a:t>4/05/2020</a:t>
            </a:fld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7152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5AFA-F94B-40FA-812F-529D26B19ED1}" type="datetime1">
              <a:rPr lang="es-CO" smtClean="0"/>
              <a:t>4/05/2020</a:t>
            </a:fld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8218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820B2-9752-4822-8898-2E5CC6D0056B}" type="datetime1">
              <a:rPr lang="es-CO" smtClean="0"/>
              <a:t>4/05/2020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Patrones de diseño de software</a:t>
            </a: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09212-B9F3-42A5-A307-57957C5AAB3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773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egiraldo@elpoli.edu.co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Qu-YmaHd7MGyMOed2--066BnaMN-K08HRlMA1xmKQOs/edit?usp=sharing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BA6DE482-5329-461B-8E70-DF548C718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0028"/>
            <a:ext cx="7772400" cy="1185863"/>
          </a:xfrm>
        </p:spPr>
        <p:txBody>
          <a:bodyPr>
            <a:noAutofit/>
          </a:bodyPr>
          <a:lstStyle/>
          <a:p>
            <a:r>
              <a:rPr lang="es-CO" sz="4000" b="1" dirty="0">
                <a:latin typeface="Arial "/>
              </a:rPr>
              <a:t>ALGORITMOS </a:t>
            </a:r>
            <a:br>
              <a:rPr lang="es-CO" sz="4000" b="1" dirty="0">
                <a:latin typeface="Arial "/>
              </a:rPr>
            </a:br>
            <a:r>
              <a:rPr lang="es-CO" sz="4000" b="1" dirty="0">
                <a:latin typeface="Arial "/>
              </a:rPr>
              <a:t>GENÉTICOS</a:t>
            </a:r>
            <a:endParaRPr lang="es-CO" sz="4000" dirty="0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10A90F6-BC5C-4AFC-A043-B68CCCA01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457972"/>
            <a:ext cx="6858000" cy="623441"/>
          </a:xfrm>
        </p:spPr>
        <p:txBody>
          <a:bodyPr>
            <a:normAutofit/>
          </a:bodyPr>
          <a:lstStyle/>
          <a:p>
            <a:r>
              <a:rPr lang="es-CO" sz="1600" b="1" dirty="0">
                <a:latin typeface="Arial "/>
              </a:rPr>
              <a:t>Preparado por</a:t>
            </a:r>
            <a:r>
              <a:rPr lang="es-CO" sz="1600" dirty="0">
                <a:latin typeface="Arial "/>
              </a:rPr>
              <a:t>: Jorge E. Giraldo Plaza </a:t>
            </a:r>
            <a:r>
              <a:rPr lang="es-CO" sz="1600" dirty="0">
                <a:latin typeface="Arial "/>
                <a:hlinkClick r:id="rId3"/>
              </a:rPr>
              <a:t>jegiraldo@elpoli.edu.co</a:t>
            </a:r>
            <a:endParaRPr lang="es-CO" sz="1600" dirty="0">
              <a:latin typeface="Arial "/>
            </a:endParaRPr>
          </a:p>
          <a:p>
            <a:r>
              <a:rPr lang="es-CO" sz="1050" dirty="0">
                <a:latin typeface="Arial "/>
              </a:rPr>
              <a:t>2020-1</a:t>
            </a:r>
            <a:endParaRPr lang="es-CO" sz="1600" dirty="0">
              <a:latin typeface="Arial "/>
            </a:endParaRPr>
          </a:p>
        </p:txBody>
      </p:sp>
    </p:spTree>
    <p:extLst>
      <p:ext uri="{BB962C8B-B14F-4D97-AF65-F5344CB8AC3E}">
        <p14:creationId xmlns:p14="http://schemas.microsoft.com/office/powerpoint/2010/main" val="310372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AE554-AAAF-452F-91AD-CD4C89C4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 dirty="0"/>
              <a:t>Algoritmos Genéticos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2</a:t>
            </a:fld>
            <a:endParaRPr lang="es-CO"/>
          </a:p>
        </p:txBody>
      </p:sp>
      <p:pic>
        <p:nvPicPr>
          <p:cNvPr id="1026" name="Picture 2" descr="Imagen relacionada">
            <a:extLst>
              <a:ext uri="{FF2B5EF4-FFF2-40B4-BE49-F238E27FC236}">
                <a16:creationId xmlns:a16="http://schemas.microsoft.com/office/drawing/2014/main" id="{D7B66B77-D777-4875-A38E-C9EB98FE7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780" y="715617"/>
            <a:ext cx="6772322" cy="5045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53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AE554-AAAF-452F-91AD-CD4C89C4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Patrones de diseño de software</a:t>
            </a:r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3</a:t>
            </a:fld>
            <a:endParaRPr lang="es-CO"/>
          </a:p>
        </p:txBody>
      </p:sp>
      <p:pic>
        <p:nvPicPr>
          <p:cNvPr id="6" name="Picture 4" descr="Inteligencia Artificial para desarrolladores Conceptos e ...">
            <a:extLst>
              <a:ext uri="{FF2B5EF4-FFF2-40B4-BE49-F238E27FC236}">
                <a16:creationId xmlns:a16="http://schemas.microsoft.com/office/drawing/2014/main" id="{54C1441D-2CFE-41B9-808B-CFFC59E4D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147" y="412752"/>
            <a:ext cx="5817450" cy="509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114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4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808383" y="821635"/>
            <a:ext cx="799106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Algoritmos</a:t>
            </a:r>
            <a:r>
              <a:rPr lang="en-US" b="1" dirty="0"/>
              <a:t> de </a:t>
            </a:r>
            <a:r>
              <a:rPr lang="en-US" b="1" dirty="0" err="1"/>
              <a:t>optimización</a:t>
            </a:r>
            <a:r>
              <a:rPr lang="en-US" b="1" dirty="0"/>
              <a:t>: </a:t>
            </a:r>
          </a:p>
          <a:p>
            <a:r>
              <a:rPr lang="en-US" dirty="0" err="1"/>
              <a:t>Alcanzar</a:t>
            </a:r>
            <a:r>
              <a:rPr lang="en-US" dirty="0"/>
              <a:t> la “</a:t>
            </a:r>
            <a:r>
              <a:rPr lang="en-US" dirty="0" err="1"/>
              <a:t>mejor</a:t>
            </a:r>
            <a:r>
              <a:rPr lang="en-US" dirty="0"/>
              <a:t>” </a:t>
            </a:r>
            <a:r>
              <a:rPr lang="en-US" dirty="0" err="1"/>
              <a:t>solución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grafo</a:t>
            </a:r>
            <a:r>
              <a:rPr lang="en-US" dirty="0"/>
              <a:t> de </a:t>
            </a:r>
            <a:r>
              <a:rPr lang="en-US" dirty="0" err="1"/>
              <a:t>estados</a:t>
            </a:r>
            <a:r>
              <a:rPr lang="en-US" dirty="0"/>
              <a:t>. </a:t>
            </a:r>
          </a:p>
          <a:p>
            <a:r>
              <a:rPr lang="en-US" dirty="0" err="1"/>
              <a:t>Ya</a:t>
            </a:r>
            <a:r>
              <a:rPr lang="en-US" dirty="0"/>
              <a:t> se </a:t>
            </a:r>
            <a:r>
              <a:rPr lang="en-US" dirty="0" err="1"/>
              <a:t>máximizar</a:t>
            </a:r>
            <a:r>
              <a:rPr lang="en-US" dirty="0"/>
              <a:t> una </a:t>
            </a:r>
            <a:r>
              <a:rPr lang="en-US" dirty="0" err="1"/>
              <a:t>función</a:t>
            </a:r>
            <a:r>
              <a:rPr lang="en-US" dirty="0"/>
              <a:t> o </a:t>
            </a:r>
            <a:r>
              <a:rPr lang="en-US" dirty="0" err="1"/>
              <a:t>minimizarla</a:t>
            </a:r>
            <a:r>
              <a:rPr lang="en-US" dirty="0"/>
              <a:t>.  </a:t>
            </a:r>
            <a:r>
              <a:rPr lang="en-US" dirty="0" err="1"/>
              <a:t>Función</a:t>
            </a:r>
            <a:r>
              <a:rPr lang="en-US" dirty="0"/>
              <a:t> </a:t>
            </a:r>
            <a:r>
              <a:rPr lang="en-US" dirty="0" err="1"/>
              <a:t>Objetivo</a:t>
            </a:r>
            <a:r>
              <a:rPr lang="en-US" dirty="0"/>
              <a:t>. </a:t>
            </a:r>
          </a:p>
          <a:p>
            <a:r>
              <a:rPr lang="en-US" dirty="0"/>
              <a:t>Se debe </a:t>
            </a:r>
            <a:r>
              <a:rPr lang="en-US" dirty="0" err="1"/>
              <a:t>evaluar</a:t>
            </a:r>
            <a:r>
              <a:rPr lang="en-US" dirty="0"/>
              <a:t> la </a:t>
            </a:r>
            <a:r>
              <a:rPr lang="en-US" dirty="0" err="1"/>
              <a:t>solución</a:t>
            </a:r>
            <a:r>
              <a:rPr lang="en-US" dirty="0"/>
              <a:t> actual (la </a:t>
            </a:r>
            <a:r>
              <a:rPr lang="en-US" dirty="0" err="1"/>
              <a:t>mejor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Solución</a:t>
            </a:r>
            <a:r>
              <a:rPr lang="en-US" dirty="0"/>
              <a:t> actual -&gt; </a:t>
            </a:r>
            <a:r>
              <a:rPr lang="en-US" dirty="0" err="1"/>
              <a:t>Aplicar</a:t>
            </a:r>
            <a:r>
              <a:rPr lang="en-US" dirty="0"/>
              <a:t> </a:t>
            </a:r>
            <a:r>
              <a:rPr lang="en-US" dirty="0" err="1"/>
              <a:t>Operadores</a:t>
            </a:r>
            <a:r>
              <a:rPr lang="en-US" dirty="0"/>
              <a:t> de </a:t>
            </a:r>
            <a:r>
              <a:rPr lang="en-US" dirty="0" err="1"/>
              <a:t>optimización</a:t>
            </a:r>
            <a:r>
              <a:rPr lang="en-US" dirty="0"/>
              <a:t> -&gt; </a:t>
            </a:r>
            <a:r>
              <a:rPr lang="en-US" dirty="0" err="1"/>
              <a:t>Calcular</a:t>
            </a:r>
            <a:r>
              <a:rPr lang="en-US" dirty="0"/>
              <a:t> </a:t>
            </a:r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Soluciones</a:t>
            </a:r>
            <a:endParaRPr lang="en-US" dirty="0"/>
          </a:p>
          <a:p>
            <a:r>
              <a:rPr lang="en-US" b="1" dirty="0"/>
              <a:t>  </a:t>
            </a:r>
            <a:endParaRPr lang="en-US" dirty="0"/>
          </a:p>
          <a:p>
            <a:endParaRPr lang="en-US" dirty="0"/>
          </a:p>
          <a:p>
            <a:r>
              <a:rPr lang="en-US" b="1" dirty="0" err="1"/>
              <a:t>Algunos</a:t>
            </a:r>
            <a:r>
              <a:rPr lang="en-US" b="1" dirty="0"/>
              <a:t> </a:t>
            </a:r>
            <a:r>
              <a:rPr lang="en-US" b="1" dirty="0" err="1"/>
              <a:t>algoritmos</a:t>
            </a:r>
            <a:r>
              <a:rPr lang="en-US" b="1" dirty="0"/>
              <a:t> de </a:t>
            </a:r>
            <a:r>
              <a:rPr lang="en-US" b="1" dirty="0" err="1"/>
              <a:t>optimización</a:t>
            </a:r>
            <a:r>
              <a:rPr lang="en-US" dirty="0"/>
              <a:t>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Escalada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Enfriamiento</a:t>
            </a:r>
            <a:r>
              <a:rPr lang="en-US" dirty="0"/>
              <a:t> </a:t>
            </a:r>
            <a:r>
              <a:rPr lang="en-US" dirty="0" err="1"/>
              <a:t>simulado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Movimiento</a:t>
            </a:r>
            <a:r>
              <a:rPr lang="en-US" dirty="0"/>
              <a:t> de </a:t>
            </a:r>
            <a:r>
              <a:rPr lang="en-US" dirty="0" err="1"/>
              <a:t>particulas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Caida</a:t>
            </a:r>
            <a:r>
              <a:rPr lang="en-US" dirty="0"/>
              <a:t> de </a:t>
            </a:r>
            <a:r>
              <a:rPr lang="en-US" dirty="0" err="1"/>
              <a:t>agua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/>
              <a:t>Colonia de </a:t>
            </a:r>
            <a:r>
              <a:rPr lang="en-US" dirty="0" err="1"/>
              <a:t>hormigas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A585E6-B88B-4DC2-9C26-1884D52B0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609" y="3138420"/>
            <a:ext cx="3298755" cy="2465004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901D0B9-0D21-41E5-9468-2978AD235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71118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5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808383" y="821635"/>
            <a:ext cx="753039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Computación</a:t>
            </a:r>
            <a:r>
              <a:rPr lang="en-US" b="1" dirty="0"/>
              <a:t> </a:t>
            </a:r>
            <a:r>
              <a:rPr lang="en-US" b="1" dirty="0" err="1"/>
              <a:t>evolutiva</a:t>
            </a:r>
            <a:r>
              <a:rPr lang="en-US" b="1" dirty="0"/>
              <a:t>: </a:t>
            </a:r>
            <a:r>
              <a:rPr lang="en-US" dirty="0" err="1"/>
              <a:t>Área</a:t>
            </a:r>
            <a:r>
              <a:rPr lang="en-US" dirty="0"/>
              <a:t> de la </a:t>
            </a:r>
            <a:r>
              <a:rPr lang="en-US" dirty="0" err="1"/>
              <a:t>computación</a:t>
            </a:r>
            <a:r>
              <a:rPr lang="en-US" dirty="0"/>
              <a:t> </a:t>
            </a:r>
            <a:r>
              <a:rPr lang="en-US" dirty="0" err="1"/>
              <a:t>orientada</a:t>
            </a:r>
            <a:r>
              <a:rPr lang="en-US" dirty="0"/>
              <a:t> a la </a:t>
            </a:r>
            <a:r>
              <a:rPr lang="en-US" dirty="0" err="1"/>
              <a:t>optimización</a:t>
            </a:r>
            <a:r>
              <a:rPr lang="en-US" dirty="0"/>
              <a:t> y </a:t>
            </a:r>
          </a:p>
          <a:p>
            <a:r>
              <a:rPr lang="en-US" dirty="0" err="1"/>
              <a:t>aprendizaje</a:t>
            </a:r>
            <a:r>
              <a:rPr lang="en-US" dirty="0"/>
              <a:t>, </a:t>
            </a:r>
            <a:r>
              <a:rPr lang="en-US" dirty="0" err="1"/>
              <a:t>basada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teoría</a:t>
            </a:r>
            <a:r>
              <a:rPr lang="en-US" dirty="0"/>
              <a:t> de </a:t>
            </a:r>
            <a:r>
              <a:rPr lang="en-US" dirty="0" err="1"/>
              <a:t>evolución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Algunas</a:t>
            </a:r>
            <a:r>
              <a:rPr lang="en-US" dirty="0"/>
              <a:t> </a:t>
            </a:r>
            <a:r>
              <a:rPr lang="en-US" dirty="0" err="1"/>
              <a:t>técnicas</a:t>
            </a:r>
            <a:r>
              <a:rPr lang="en-US" dirty="0"/>
              <a:t>: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Programación</a:t>
            </a:r>
            <a:r>
              <a:rPr lang="en-US" dirty="0"/>
              <a:t> </a:t>
            </a:r>
            <a:r>
              <a:rPr lang="en-US" dirty="0" err="1"/>
              <a:t>evolutiva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Estrategias</a:t>
            </a:r>
            <a:r>
              <a:rPr lang="en-US" dirty="0"/>
              <a:t> </a:t>
            </a:r>
            <a:r>
              <a:rPr lang="en-US" dirty="0" err="1"/>
              <a:t>evolutivas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Computación</a:t>
            </a:r>
            <a:r>
              <a:rPr lang="en-US" dirty="0"/>
              <a:t> </a:t>
            </a:r>
            <a:r>
              <a:rPr lang="en-US" dirty="0" err="1"/>
              <a:t>genética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/>
              <a:t>Vida artificial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genético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AE5A47-8370-497B-8E02-6F8ABE1B0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544" y="3868322"/>
            <a:ext cx="4233379" cy="211103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514A4FC-BA7B-4B11-B052-75C7D6037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62041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6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808383" y="821635"/>
            <a:ext cx="40155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Componentes</a:t>
            </a:r>
            <a:r>
              <a:rPr lang="en-US" b="1" dirty="0"/>
              <a:t> de un </a:t>
            </a:r>
            <a:r>
              <a:rPr lang="en-US" b="1" dirty="0" err="1"/>
              <a:t>Algoritmo</a:t>
            </a:r>
            <a:r>
              <a:rPr lang="en-US" b="1" dirty="0"/>
              <a:t> </a:t>
            </a:r>
            <a:r>
              <a:rPr lang="en-US" b="1" dirty="0" err="1"/>
              <a:t>Genético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C1 - Población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pic>
        <p:nvPicPr>
          <p:cNvPr id="8194" name="Picture 2" descr="Soñemos con población y desarrollo | Neurona Digital Mag">
            <a:extLst>
              <a:ext uri="{FF2B5EF4-FFF2-40B4-BE49-F238E27FC236}">
                <a16:creationId xmlns:a16="http://schemas.microsoft.com/office/drawing/2014/main" id="{F39747F9-E665-4F0F-8062-CD46128C8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955" y="2235062"/>
            <a:ext cx="28289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La OMS avisa de que la mitad de la población mundial está en ...">
            <a:extLst>
              <a:ext uri="{FF2B5EF4-FFF2-40B4-BE49-F238E27FC236}">
                <a16:creationId xmlns:a16="http://schemas.microsoft.com/office/drawing/2014/main" id="{3AB12222-5BA7-4777-85CC-8FB37DE29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122" y="2286588"/>
            <a:ext cx="2600325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89CF85-523A-4368-879B-D4DCAD31E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706" y="4411250"/>
            <a:ext cx="2352675" cy="13335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AEF191-36CA-4A43-81E8-A01FF780A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23079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7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808383" y="821635"/>
            <a:ext cx="40155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Componentes</a:t>
            </a:r>
            <a:r>
              <a:rPr lang="en-US" b="1" dirty="0"/>
              <a:t> de un </a:t>
            </a:r>
            <a:r>
              <a:rPr lang="en-US" b="1" dirty="0" err="1"/>
              <a:t>Algoritmo</a:t>
            </a:r>
            <a:r>
              <a:rPr lang="en-US" b="1" dirty="0"/>
              <a:t> </a:t>
            </a:r>
            <a:r>
              <a:rPr lang="en-US" b="1" dirty="0" err="1"/>
              <a:t>Genético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C2 - </a:t>
            </a:r>
            <a:r>
              <a:rPr lang="en-US" b="1" dirty="0" err="1"/>
              <a:t>Mecanismo</a:t>
            </a:r>
            <a:r>
              <a:rPr lang="en-US" b="1" dirty="0"/>
              <a:t> de </a:t>
            </a:r>
            <a:r>
              <a:rPr lang="en-US" b="1" dirty="0" err="1"/>
              <a:t>representación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728882-5299-42C3-9604-50D805DB8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287" y="2662032"/>
            <a:ext cx="1251709" cy="20354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3C0BB8-CCE7-478F-A463-564BD38E4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299" y="2575961"/>
            <a:ext cx="2869302" cy="2604443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A7AA407-08B5-4156-9A34-10E81E84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80774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8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808383" y="821635"/>
            <a:ext cx="40155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Componentes</a:t>
            </a:r>
            <a:r>
              <a:rPr lang="en-US" b="1" dirty="0"/>
              <a:t> de un </a:t>
            </a:r>
            <a:r>
              <a:rPr lang="en-US" b="1" dirty="0" err="1"/>
              <a:t>Algoritmo</a:t>
            </a:r>
            <a:r>
              <a:rPr lang="en-US" b="1" dirty="0"/>
              <a:t> </a:t>
            </a:r>
            <a:r>
              <a:rPr lang="en-US" b="1" dirty="0" err="1"/>
              <a:t>Genético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C3 – </a:t>
            </a:r>
            <a:r>
              <a:rPr lang="en-US" b="1" dirty="0" err="1"/>
              <a:t>Función</a:t>
            </a:r>
            <a:r>
              <a:rPr lang="en-US" b="1" dirty="0"/>
              <a:t> </a:t>
            </a:r>
            <a:r>
              <a:rPr lang="en-US" b="1" dirty="0" err="1"/>
              <a:t>objetivo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7C1998-C777-4F33-9D2E-89219CDA4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680" y="2215115"/>
            <a:ext cx="2447925" cy="2066925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5C1A667-AEAD-4DF3-AF95-5C232E98C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03872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9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808383" y="821635"/>
            <a:ext cx="40155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Componentes</a:t>
            </a:r>
            <a:r>
              <a:rPr lang="en-US" b="1" dirty="0"/>
              <a:t> de un </a:t>
            </a:r>
            <a:r>
              <a:rPr lang="en-US" b="1" dirty="0" err="1"/>
              <a:t>Algoritmo</a:t>
            </a:r>
            <a:r>
              <a:rPr lang="en-US" b="1" dirty="0"/>
              <a:t> </a:t>
            </a:r>
            <a:r>
              <a:rPr lang="en-US" b="1" dirty="0" err="1"/>
              <a:t>Genético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C4 – </a:t>
            </a:r>
            <a:r>
              <a:rPr lang="en-US" b="1" dirty="0" err="1"/>
              <a:t>Operadores</a:t>
            </a:r>
            <a:r>
              <a:rPr lang="en-US" b="1" dirty="0"/>
              <a:t> </a:t>
            </a:r>
            <a:r>
              <a:rPr lang="en-US" b="1" dirty="0" err="1"/>
              <a:t>genéticos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541907-9EC5-4BF4-8D30-D22EF0746F55}"/>
              </a:ext>
            </a:extLst>
          </p:cNvPr>
          <p:cNvSpPr txBox="1"/>
          <p:nvPr/>
        </p:nvSpPr>
        <p:spPr>
          <a:xfrm>
            <a:off x="914400" y="2173357"/>
            <a:ext cx="6626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Operadores</a:t>
            </a:r>
            <a:r>
              <a:rPr lang="en-US" dirty="0"/>
              <a:t> de </a:t>
            </a:r>
            <a:r>
              <a:rPr lang="en-US" dirty="0" err="1"/>
              <a:t>cruce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Operadores</a:t>
            </a:r>
            <a:r>
              <a:rPr lang="en-US" dirty="0"/>
              <a:t> de </a:t>
            </a:r>
            <a:r>
              <a:rPr lang="en-US" dirty="0" err="1"/>
              <a:t>mutación</a:t>
            </a:r>
            <a:r>
              <a:rPr lang="en-US"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DBA3E-0155-4824-AEF0-869D8B1CB52B}"/>
              </a:ext>
            </a:extLst>
          </p:cNvPr>
          <p:cNvSpPr/>
          <p:nvPr/>
        </p:nvSpPr>
        <p:spPr>
          <a:xfrm>
            <a:off x="808383" y="3651795"/>
            <a:ext cx="570245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C5 – </a:t>
            </a:r>
            <a:r>
              <a:rPr lang="en-US" b="1" dirty="0" err="1"/>
              <a:t>Parámetros</a:t>
            </a:r>
            <a:r>
              <a:rPr lang="en-US" b="1" dirty="0"/>
              <a:t> </a:t>
            </a:r>
            <a:r>
              <a:rPr lang="en-US" b="1" dirty="0" err="1"/>
              <a:t>iniciales</a:t>
            </a:r>
            <a:endParaRPr lang="en-US" b="1" dirty="0"/>
          </a:p>
          <a:p>
            <a:endParaRPr lang="en-US" b="1" dirty="0"/>
          </a:p>
          <a:p>
            <a:r>
              <a:rPr lang="en-US" dirty="0" err="1"/>
              <a:t>Probabilidad</a:t>
            </a:r>
            <a:r>
              <a:rPr lang="en-US" dirty="0"/>
              <a:t> de </a:t>
            </a:r>
            <a:r>
              <a:rPr lang="en-US" dirty="0" err="1"/>
              <a:t>selección</a:t>
            </a:r>
            <a:r>
              <a:rPr lang="en-US" dirty="0"/>
              <a:t>.</a:t>
            </a:r>
          </a:p>
          <a:p>
            <a:r>
              <a:rPr lang="en-US" dirty="0" err="1"/>
              <a:t>Probabilidad</a:t>
            </a:r>
            <a:r>
              <a:rPr lang="en-US" dirty="0"/>
              <a:t> de </a:t>
            </a:r>
            <a:r>
              <a:rPr lang="en-US" dirty="0" err="1"/>
              <a:t>cruce</a:t>
            </a:r>
            <a:r>
              <a:rPr lang="en-US" dirty="0"/>
              <a:t>.</a:t>
            </a:r>
          </a:p>
          <a:p>
            <a:r>
              <a:rPr lang="en-US" dirty="0" err="1"/>
              <a:t>Probabilidad</a:t>
            </a:r>
            <a:r>
              <a:rPr lang="en-US" dirty="0"/>
              <a:t> de </a:t>
            </a:r>
            <a:r>
              <a:rPr lang="en-US" dirty="0" err="1"/>
              <a:t>mutación</a:t>
            </a:r>
            <a:r>
              <a:rPr lang="en-US" dirty="0"/>
              <a:t>.</a:t>
            </a:r>
          </a:p>
          <a:p>
            <a:r>
              <a:rPr lang="en-US" dirty="0" err="1"/>
              <a:t>Criterio</a:t>
            </a:r>
            <a:r>
              <a:rPr lang="en-US" dirty="0"/>
              <a:t> de </a:t>
            </a:r>
            <a:r>
              <a:rPr lang="en-US" dirty="0" err="1"/>
              <a:t>parada</a:t>
            </a:r>
            <a:r>
              <a:rPr lang="en-US" dirty="0"/>
              <a:t>  (num </a:t>
            </a:r>
            <a:r>
              <a:rPr lang="en-US" dirty="0" err="1"/>
              <a:t>generaciones</a:t>
            </a:r>
            <a:r>
              <a:rPr lang="en-US" dirty="0"/>
              <a:t>, valor </a:t>
            </a:r>
            <a:r>
              <a:rPr lang="en-US" dirty="0" err="1"/>
              <a:t>convergente</a:t>
            </a:r>
            <a:r>
              <a:rPr lang="en-US" dirty="0"/>
              <a:t>).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E7A997C-3158-4D87-BE14-55F28340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32043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10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3289823" y="412752"/>
            <a:ext cx="2647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FLUJO GENERAL  AG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5BF9F1-ECAF-4165-A082-90DBD78AF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69" y="1047128"/>
            <a:ext cx="6744055" cy="4332841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DA2B74D-9E8F-4C98-BC0B-12194069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6666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11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3289823" y="412752"/>
            <a:ext cx="219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FLUJO GENERAL   AG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FC9307-68DA-41EE-B81D-449C5C333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22" y="1176856"/>
            <a:ext cx="6820935" cy="4004330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1708040-D30E-46E8-942B-5B38BA5EE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5486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12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3289823" y="412752"/>
            <a:ext cx="219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FLUJO GENERAL   AG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DC5301-E495-4B37-BCBD-0C89E65D6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91" y="1543363"/>
            <a:ext cx="8282611" cy="3313044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EBA4DCA-56C8-434C-B8A4-387655B21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34560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13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3289823" y="412752"/>
            <a:ext cx="219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FLUJO GENERAL   AG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DD247F-8792-4F33-93DB-D5B6C748B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60" y="1017729"/>
            <a:ext cx="6726721" cy="4822542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6C0D49D-A8F5-4C22-966E-2CF7033B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3701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14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2446668" y="316983"/>
            <a:ext cx="425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REPRESENTACIÓN – BASADA EN ARBOLES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6B825A-D70E-44BA-9A96-5BFD8B971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36" y="1276556"/>
            <a:ext cx="4333875" cy="3933825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7923A57-8AF1-43A0-8536-111EF38E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86318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15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2446668" y="316983"/>
            <a:ext cx="425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REPRESENTACIÓN – ENFOQUE LINEAL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213033-16AC-4312-BCD2-C8FC2ED1C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791" y="845951"/>
            <a:ext cx="5290516" cy="3303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FAC700-0D2A-4969-9102-6C1CF490C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75" y="4856542"/>
            <a:ext cx="3905250" cy="8763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5CBAB5D-9C3C-4C0C-A195-132C8A923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61066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16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1614273" y="246579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INICIALIZACIÓN DE LA POBLACIÓN – BASADA EN ARBOLES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617C2-59D0-42BA-B4E5-75C67A4B2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1077981"/>
            <a:ext cx="6438900" cy="356235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499D01-D8BD-46D1-B58A-1CB025ECF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67917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17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1614273" y="246579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CRUCE – BASADA EN ARBOLES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56CBBB-1B0B-40AD-A3E9-1C141864F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902140"/>
            <a:ext cx="6610350" cy="5053719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E4A460E-9841-42A2-88F7-F6EA2DE3E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77329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18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1614273" y="246579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MUTACIÓN – BASADA EN ARBOLES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3E7181-B725-48DF-A205-4199B9099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31" y="934133"/>
            <a:ext cx="6715731" cy="4415971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E9FE1C9-E4CF-439E-AE4A-7176F82C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86941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19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1614273" y="246579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EJEMPLO – BASADA EN ARBOLES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F66972-C6DC-4A37-920B-79A3DF37B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25" y="795675"/>
            <a:ext cx="7591750" cy="6837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4D7DE0-70C6-4D0F-AC2F-9077FB100E6B}"/>
              </a:ext>
            </a:extLst>
          </p:cNvPr>
          <p:cNvSpPr txBox="1"/>
          <p:nvPr/>
        </p:nvSpPr>
        <p:spPr>
          <a:xfrm>
            <a:off x="776125" y="1828800"/>
            <a:ext cx="749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Población </a:t>
            </a:r>
            <a:r>
              <a:rPr lang="en-US" b="1" dirty="0" err="1"/>
              <a:t>inicial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D93F1B-9B7B-409E-BF61-849168999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25" y="2504458"/>
            <a:ext cx="7260090" cy="3283515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8220D0A-4D57-48D7-BB4D-56F3BC4BF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00636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20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1614273" y="246579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EJEMPLO – BASADA EN ARBOLES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D7DE0-70C6-4D0F-AC2F-9077FB100E6B}"/>
              </a:ext>
            </a:extLst>
          </p:cNvPr>
          <p:cNvSpPr txBox="1"/>
          <p:nvPr/>
        </p:nvSpPr>
        <p:spPr>
          <a:xfrm>
            <a:off x="694120" y="771360"/>
            <a:ext cx="749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Evaluación</a:t>
            </a:r>
            <a:r>
              <a:rPr lang="en-US" dirty="0"/>
              <a:t> </a:t>
            </a:r>
            <a:r>
              <a:rPr lang="en-US" dirty="0" err="1"/>
              <a:t>Función</a:t>
            </a:r>
            <a:r>
              <a:rPr lang="en-US" dirty="0"/>
              <a:t> </a:t>
            </a:r>
            <a:r>
              <a:rPr lang="en-US" dirty="0" err="1"/>
              <a:t>objetivo</a:t>
            </a:r>
            <a:r>
              <a:rPr lang="en-US" dirty="0"/>
              <a:t> (fitness evaluation)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42A1A-D467-48DD-85CD-3A43BB6A0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59" y="1299322"/>
            <a:ext cx="7493232" cy="7945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89C815-8735-46D4-AFB4-A03CE0353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243" y="2252503"/>
            <a:ext cx="5630932" cy="3880492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8EA012A-395C-4F93-A5EC-F96E86ED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74599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21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1614273" y="98448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EJEMPLO – BASADA EN ARBOLES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D7DE0-70C6-4D0F-AC2F-9077FB100E6B}"/>
              </a:ext>
            </a:extLst>
          </p:cNvPr>
          <p:cNvSpPr txBox="1"/>
          <p:nvPr/>
        </p:nvSpPr>
        <p:spPr>
          <a:xfrm>
            <a:off x="195578" y="777877"/>
            <a:ext cx="749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Cruce</a:t>
            </a:r>
            <a:r>
              <a:rPr lang="en-US" dirty="0"/>
              <a:t> y </a:t>
            </a:r>
            <a:r>
              <a:rPr lang="en-US" dirty="0" err="1"/>
              <a:t>mutación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2395E9-DC92-47D9-971C-FF43556D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472" y="463573"/>
            <a:ext cx="6105103" cy="21581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1D6904-6A80-4DB6-AEBD-E44A49B1A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272" y="2806005"/>
            <a:ext cx="6562303" cy="358322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420BB8-1543-46A2-998B-CD03B52731C3}"/>
              </a:ext>
            </a:extLst>
          </p:cNvPr>
          <p:cNvCxnSpPr/>
          <p:nvPr/>
        </p:nvCxnSpPr>
        <p:spPr>
          <a:xfrm>
            <a:off x="556591" y="2806005"/>
            <a:ext cx="82693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46F4114-4D4E-402D-AA80-94B846BB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60458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22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1614273" y="98448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AG – BASADO EN ESTRUCTURA LINEAL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46F4114-4D4E-402D-AA80-94B846BB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D7BBD-FAEF-45C0-B07B-93ED64587064}"/>
              </a:ext>
            </a:extLst>
          </p:cNvPr>
          <p:cNvSpPr txBox="1"/>
          <p:nvPr/>
        </p:nvSpPr>
        <p:spPr>
          <a:xfrm>
            <a:off x="862840" y="925181"/>
            <a:ext cx="479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Población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82E061-43C9-44E3-90FF-E562851AB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40" y="1751915"/>
            <a:ext cx="77628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04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23</a:t>
            </a:fld>
            <a:endParaRPr lang="es-CO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46F4114-4D4E-402D-AA80-94B846BB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D7BBD-FAEF-45C0-B07B-93ED64587064}"/>
              </a:ext>
            </a:extLst>
          </p:cNvPr>
          <p:cNvSpPr txBox="1"/>
          <p:nvPr/>
        </p:nvSpPr>
        <p:spPr>
          <a:xfrm>
            <a:off x="862840" y="925181"/>
            <a:ext cx="479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Técnicas</a:t>
            </a:r>
            <a:r>
              <a:rPr lang="en-US" b="1" dirty="0"/>
              <a:t> de </a:t>
            </a:r>
            <a:r>
              <a:rPr lang="en-US" b="1" dirty="0" err="1"/>
              <a:t>selección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93D25-2C80-4F69-8B5D-31FCD090397E}"/>
              </a:ext>
            </a:extLst>
          </p:cNvPr>
          <p:cNvSpPr txBox="1"/>
          <p:nvPr/>
        </p:nvSpPr>
        <p:spPr>
          <a:xfrm>
            <a:off x="516835" y="1722783"/>
            <a:ext cx="80440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Selección</a:t>
            </a:r>
            <a:r>
              <a:rPr lang="en-US" dirty="0"/>
              <a:t> </a:t>
            </a:r>
            <a:r>
              <a:rPr lang="en-US" dirty="0" err="1"/>
              <a:t>proporcional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Selección</a:t>
            </a:r>
            <a:r>
              <a:rPr lang="en-US" dirty="0"/>
              <a:t> por </a:t>
            </a:r>
            <a:r>
              <a:rPr lang="en-US" dirty="0" err="1"/>
              <a:t>torneo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Selección</a:t>
            </a:r>
            <a:r>
              <a:rPr lang="en-US" dirty="0"/>
              <a:t> </a:t>
            </a:r>
            <a:r>
              <a:rPr lang="en-US" dirty="0" err="1"/>
              <a:t>estocástica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Selección</a:t>
            </a:r>
            <a:r>
              <a:rPr lang="en-US" dirty="0"/>
              <a:t> </a:t>
            </a:r>
            <a:r>
              <a:rPr lang="en-US" dirty="0" err="1"/>
              <a:t>basada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heurísticas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5FF962-4686-4DE6-999E-CDEDF3BC8FED}"/>
              </a:ext>
            </a:extLst>
          </p:cNvPr>
          <p:cNvSpPr txBox="1"/>
          <p:nvPr/>
        </p:nvSpPr>
        <p:spPr>
          <a:xfrm>
            <a:off x="1614273" y="98448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AG – BASADO EN ESTRUCTURA LINEAL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765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24</a:t>
            </a:fld>
            <a:endParaRPr lang="es-CO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46F4114-4D4E-402D-AA80-94B846BB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D7BBD-FAEF-45C0-B07B-93ED64587064}"/>
              </a:ext>
            </a:extLst>
          </p:cNvPr>
          <p:cNvSpPr txBox="1"/>
          <p:nvPr/>
        </p:nvSpPr>
        <p:spPr>
          <a:xfrm>
            <a:off x="862840" y="925181"/>
            <a:ext cx="479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Técnicas</a:t>
            </a:r>
            <a:r>
              <a:rPr lang="en-US" b="1" dirty="0"/>
              <a:t> de </a:t>
            </a:r>
            <a:r>
              <a:rPr lang="en-US" b="1" dirty="0" err="1"/>
              <a:t>cruce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93D25-2C80-4F69-8B5D-31FCD090397E}"/>
              </a:ext>
            </a:extLst>
          </p:cNvPr>
          <p:cNvSpPr txBox="1"/>
          <p:nvPr/>
        </p:nvSpPr>
        <p:spPr>
          <a:xfrm>
            <a:off x="516835" y="1722783"/>
            <a:ext cx="8044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Cruce</a:t>
            </a:r>
            <a:r>
              <a:rPr lang="en-US" dirty="0"/>
              <a:t> de 1 punto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95F161-2578-4F85-8AF0-46D2642AF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6921"/>
            <a:ext cx="9144000" cy="23441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A91CD4-F51A-4DDF-9520-F9BABE5C26A9}"/>
              </a:ext>
            </a:extLst>
          </p:cNvPr>
          <p:cNvSpPr txBox="1"/>
          <p:nvPr/>
        </p:nvSpPr>
        <p:spPr>
          <a:xfrm>
            <a:off x="1614273" y="98448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AG – BASADO EN ESTRUCTURA LINEAL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403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25</a:t>
            </a:fld>
            <a:endParaRPr lang="es-CO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46F4114-4D4E-402D-AA80-94B846BB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D7BBD-FAEF-45C0-B07B-93ED64587064}"/>
              </a:ext>
            </a:extLst>
          </p:cNvPr>
          <p:cNvSpPr txBox="1"/>
          <p:nvPr/>
        </p:nvSpPr>
        <p:spPr>
          <a:xfrm>
            <a:off x="862840" y="925181"/>
            <a:ext cx="479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Técnicas</a:t>
            </a:r>
            <a:r>
              <a:rPr lang="en-US" b="1" dirty="0"/>
              <a:t> de </a:t>
            </a:r>
            <a:r>
              <a:rPr lang="en-US" b="1" dirty="0" err="1"/>
              <a:t>cruce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93D25-2C80-4F69-8B5D-31FCD090397E}"/>
              </a:ext>
            </a:extLst>
          </p:cNvPr>
          <p:cNvSpPr txBox="1"/>
          <p:nvPr/>
        </p:nvSpPr>
        <p:spPr>
          <a:xfrm>
            <a:off x="516835" y="1722783"/>
            <a:ext cx="8044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Cruce</a:t>
            </a:r>
            <a:r>
              <a:rPr lang="en-US" dirty="0"/>
              <a:t> de 2 puntos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60B72F-6E01-4810-B4EB-DA8D08970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4816"/>
            <a:ext cx="9144000" cy="23083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578990-5CBA-4486-9950-C9FDD48627A8}"/>
              </a:ext>
            </a:extLst>
          </p:cNvPr>
          <p:cNvSpPr txBox="1"/>
          <p:nvPr/>
        </p:nvSpPr>
        <p:spPr>
          <a:xfrm>
            <a:off x="377688" y="5135217"/>
            <a:ext cx="8044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Cruce</a:t>
            </a:r>
            <a:r>
              <a:rPr lang="en-US" dirty="0"/>
              <a:t> de </a:t>
            </a:r>
            <a:r>
              <a:rPr lang="en-US" dirty="0" err="1"/>
              <a:t>uniforme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DA327C-83AF-42B3-A257-A33938B72745}"/>
              </a:ext>
            </a:extLst>
          </p:cNvPr>
          <p:cNvSpPr txBox="1"/>
          <p:nvPr/>
        </p:nvSpPr>
        <p:spPr>
          <a:xfrm>
            <a:off x="1614273" y="98448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AG – BASADO EN ESTRUCTURA LINEAL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76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26</a:t>
            </a:fld>
            <a:endParaRPr lang="es-CO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46F4114-4D4E-402D-AA80-94B846BB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D7BBD-FAEF-45C0-B07B-93ED64587064}"/>
              </a:ext>
            </a:extLst>
          </p:cNvPr>
          <p:cNvSpPr txBox="1"/>
          <p:nvPr/>
        </p:nvSpPr>
        <p:spPr>
          <a:xfrm>
            <a:off x="862840" y="925181"/>
            <a:ext cx="479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Técnicas</a:t>
            </a:r>
            <a:r>
              <a:rPr lang="en-US" b="1" dirty="0"/>
              <a:t> de </a:t>
            </a:r>
            <a:r>
              <a:rPr lang="en-US" b="1" dirty="0" err="1"/>
              <a:t>mutación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93D25-2C80-4F69-8B5D-31FCD090397E}"/>
              </a:ext>
            </a:extLst>
          </p:cNvPr>
          <p:cNvSpPr txBox="1"/>
          <p:nvPr/>
        </p:nvSpPr>
        <p:spPr>
          <a:xfrm>
            <a:off x="516835" y="1722783"/>
            <a:ext cx="8044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Heurística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11914C-6591-48BB-A764-19D3738AD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800"/>
            <a:ext cx="9144000" cy="2438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82C758-4BD7-4CA3-8EBD-368AA4205A38}"/>
              </a:ext>
            </a:extLst>
          </p:cNvPr>
          <p:cNvSpPr txBox="1"/>
          <p:nvPr/>
        </p:nvSpPr>
        <p:spPr>
          <a:xfrm>
            <a:off x="1614273" y="98448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AG – BASADO EN ESTRUCTURA LINEAL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066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27</a:t>
            </a:fld>
            <a:endParaRPr lang="es-CO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46F4114-4D4E-402D-AA80-94B846BB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D7BBD-FAEF-45C0-B07B-93ED64587064}"/>
              </a:ext>
            </a:extLst>
          </p:cNvPr>
          <p:cNvSpPr txBox="1"/>
          <p:nvPr/>
        </p:nvSpPr>
        <p:spPr>
          <a:xfrm>
            <a:off x="862840" y="925181"/>
            <a:ext cx="479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Técnicas</a:t>
            </a:r>
            <a:r>
              <a:rPr lang="en-US" b="1" dirty="0"/>
              <a:t> de </a:t>
            </a:r>
            <a:r>
              <a:rPr lang="en-US" b="1" dirty="0" err="1"/>
              <a:t>mutación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93D25-2C80-4F69-8B5D-31FCD090397E}"/>
              </a:ext>
            </a:extLst>
          </p:cNvPr>
          <p:cNvSpPr txBox="1"/>
          <p:nvPr/>
        </p:nvSpPr>
        <p:spPr>
          <a:xfrm>
            <a:off x="516835" y="1722783"/>
            <a:ext cx="8044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Desplazamiento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008264-89C3-4487-8B0F-7305B9A1DC6A}"/>
              </a:ext>
            </a:extLst>
          </p:cNvPr>
          <p:cNvSpPr txBox="1"/>
          <p:nvPr/>
        </p:nvSpPr>
        <p:spPr>
          <a:xfrm>
            <a:off x="1614273" y="98448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AG – BASADO EN ESTRUCTURA LINEAL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62DEC-8E49-4F05-9D95-E1571D10A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1870"/>
            <a:ext cx="9144000" cy="24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23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28</a:t>
            </a:fld>
            <a:endParaRPr lang="es-CO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46F4114-4D4E-402D-AA80-94B846BB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D7BBD-FAEF-45C0-B07B-93ED64587064}"/>
              </a:ext>
            </a:extLst>
          </p:cNvPr>
          <p:cNvSpPr txBox="1"/>
          <p:nvPr/>
        </p:nvSpPr>
        <p:spPr>
          <a:xfrm>
            <a:off x="862840" y="925181"/>
            <a:ext cx="479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Técnicas</a:t>
            </a:r>
            <a:r>
              <a:rPr lang="en-US" b="1" dirty="0"/>
              <a:t> de </a:t>
            </a:r>
            <a:r>
              <a:rPr lang="en-US" b="1" dirty="0" err="1"/>
              <a:t>mutación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93D25-2C80-4F69-8B5D-31FCD090397E}"/>
              </a:ext>
            </a:extLst>
          </p:cNvPr>
          <p:cNvSpPr txBox="1"/>
          <p:nvPr/>
        </p:nvSpPr>
        <p:spPr>
          <a:xfrm>
            <a:off x="516835" y="1722783"/>
            <a:ext cx="8044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Intercambio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5C4E2F-6752-4AA9-A173-53391559C3A9}"/>
              </a:ext>
            </a:extLst>
          </p:cNvPr>
          <p:cNvSpPr txBox="1"/>
          <p:nvPr/>
        </p:nvSpPr>
        <p:spPr>
          <a:xfrm>
            <a:off x="1614273" y="98448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AG – BASADO EN ESTRUCTURA LINEAL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FB2B3F-F675-4FCC-B5AC-05F7DEAAB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4729"/>
            <a:ext cx="9144000" cy="232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46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29</a:t>
            </a:fld>
            <a:endParaRPr lang="es-CO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46F4114-4D4E-402D-AA80-94B846BB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D7BBD-FAEF-45C0-B07B-93ED64587064}"/>
              </a:ext>
            </a:extLst>
          </p:cNvPr>
          <p:cNvSpPr txBox="1"/>
          <p:nvPr/>
        </p:nvSpPr>
        <p:spPr>
          <a:xfrm>
            <a:off x="862840" y="925181"/>
            <a:ext cx="479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Técnicas</a:t>
            </a:r>
            <a:r>
              <a:rPr lang="en-US" b="1" dirty="0"/>
              <a:t> de </a:t>
            </a:r>
            <a:r>
              <a:rPr lang="en-US" b="1" dirty="0" err="1"/>
              <a:t>mutación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D93D25-2C80-4F69-8B5D-31FCD090397E}"/>
              </a:ext>
            </a:extLst>
          </p:cNvPr>
          <p:cNvSpPr txBox="1"/>
          <p:nvPr/>
        </p:nvSpPr>
        <p:spPr>
          <a:xfrm>
            <a:off x="516835" y="1722783"/>
            <a:ext cx="8044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Inserción</a:t>
            </a:r>
            <a:r>
              <a:rPr lang="en-US" dirty="0"/>
              <a:t> (</a:t>
            </a:r>
            <a:r>
              <a:rPr lang="en-US" dirty="0" err="1"/>
              <a:t>Segmento</a:t>
            </a:r>
            <a:r>
              <a:rPr lang="en-US" dirty="0"/>
              <a:t> </a:t>
            </a:r>
            <a:r>
              <a:rPr lang="en-US" dirty="0" err="1"/>
              <a:t>aleatorio</a:t>
            </a:r>
            <a:r>
              <a:rPr lang="en-US" dirty="0"/>
              <a:t> de la población total)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99989-5A3C-4CF8-B424-77A5C27AEEDA}"/>
              </a:ext>
            </a:extLst>
          </p:cNvPr>
          <p:cNvSpPr txBox="1"/>
          <p:nvPr/>
        </p:nvSpPr>
        <p:spPr>
          <a:xfrm>
            <a:off x="1614273" y="98448"/>
            <a:ext cx="591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AG – BASADO EN ESTRUCTURA LINEAL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2E6DE8-0225-4DEB-AA19-265E4555E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3852"/>
            <a:ext cx="9144000" cy="227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32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96F66-1093-480E-B3CE-018D7FA4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pPr/>
              <a:t>30</a:t>
            </a:fld>
            <a:endParaRPr lang="es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5C313-A650-47D4-BE15-1EF1109DE26B}"/>
              </a:ext>
            </a:extLst>
          </p:cNvPr>
          <p:cNvSpPr txBox="1"/>
          <p:nvPr/>
        </p:nvSpPr>
        <p:spPr>
          <a:xfrm>
            <a:off x="1707038" y="2192292"/>
            <a:ext cx="5915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hlinkClick r:id="rId2"/>
              </a:rPr>
              <a:t>VER EJEMPLOS</a:t>
            </a:r>
            <a:endParaRPr lang="en-US" sz="3200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46F4114-4D4E-402D-AA80-94B846BB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Algoritmos Genéticos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58594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4317C2-21D3-4375-872A-BA8969A3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09212-B9F3-42A5-A307-57957C5AAB3B}" type="slidenum">
              <a:rPr lang="es-CO" smtClean="0"/>
              <a:t>31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665C4C-8BFC-4988-858A-B1B6B1121E3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s-ES"/>
              <a:t>Patrones de diseño de software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24231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1698</TotalTime>
  <Words>466</Words>
  <Application>Microsoft Office PowerPoint</Application>
  <PresentationFormat>On-screen Show (4:3)</PresentationFormat>
  <Paragraphs>162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Arial </vt:lpstr>
      <vt:lpstr>Calibri</vt:lpstr>
      <vt:lpstr>Calibri Light</vt:lpstr>
      <vt:lpstr>Tema de Office</vt:lpstr>
      <vt:lpstr>ALGORITMOS  GENÉTICOS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RAUL BOLIVAR ROSERO MOLINEROS</dc:creator>
  <cp:lastModifiedBy>jorge</cp:lastModifiedBy>
  <cp:revision>93</cp:revision>
  <dcterms:created xsi:type="dcterms:W3CDTF">2020-02-10T16:03:18Z</dcterms:created>
  <dcterms:modified xsi:type="dcterms:W3CDTF">2020-05-05T00:39:56Z</dcterms:modified>
</cp:coreProperties>
</file>